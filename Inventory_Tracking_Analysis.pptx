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in Stock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Chair</c:v>
                  </c:pt>
                  <c:pt idx="1">
                    <c:v>Phone</c:v>
                  </c:pt>
                  <c:pt idx="2">
                    <c:v>Monitor</c:v>
                  </c:pt>
                  <c:pt idx="3">
                    <c:v>Laptop</c:v>
                  </c:pt>
                  <c:pt idx="4">
                    <c:v>Tablet</c:v>
                  </c:pt>
                  <c:pt idx="5">
                    <c:v>Printer</c:v>
                  </c:pt>
                  <c:pt idx="6">
                    <c:v>Desk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19585</c:v>
                </c:pt>
                <c:pt idx="1">
                  <c:v>19421</c:v>
                </c:pt>
                <c:pt idx="2">
                  <c:v>19063</c:v>
                </c:pt>
                <c:pt idx="3">
                  <c:v>18275</c:v>
                </c:pt>
                <c:pt idx="4">
                  <c:v>17650</c:v>
                </c:pt>
                <c:pt idx="5">
                  <c:v>16692</c:v>
                </c:pt>
                <c:pt idx="6">
                  <c:v>15155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64550"/>
              </a:solidFill>
              <a:effectLst/>
            </c:spPr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bubble3D val="0"/>
            <c:spPr>
              <a:solidFill>
                <a:srgbClr val="1E2761"/>
              </a:solidFill>
              <a:effectLst/>
            </c:spPr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Overstocked</c:v>
                </c:pt>
                <c:pt idx="1">
                  <c:v>Adequate</c:v>
                </c:pt>
                <c:pt idx="2">
                  <c:v>Below Reorder Point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373</c:v>
                </c:pt>
                <c:pt idx="1">
                  <c:v>61</c:v>
                </c:pt>
                <c:pt idx="2">
                  <c:v>66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Stock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WH-2</c:v>
                  </c:pt>
                  <c:pt idx="1">
                    <c:v>WH-1</c:v>
                  </c:pt>
                  <c:pt idx="2">
                    <c:v>WH-5</c:v>
                  </c:pt>
                  <c:pt idx="3">
                    <c:v>WH-4</c:v>
                  </c:pt>
                  <c:pt idx="4">
                    <c:v>WH-3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15.84</c:v>
                </c:pt>
                <c:pt idx="1">
                  <c:v>15.6</c:v>
                </c:pt>
                <c:pt idx="2">
                  <c:v>14.12</c:v>
                </c:pt>
                <c:pt idx="3">
                  <c:v>10.53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Overstock Count</c:v>
                </c:pt>
              </c:strCache>
            </c:strRef>
          </c:tx>
          <c:spPr>
            <a:solidFill>
              <a:srgbClr val="D645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WH-3</c:v>
                  </c:pt>
                  <c:pt idx="1">
                    <c:v>WH-1</c:v>
                  </c:pt>
                  <c:pt idx="2">
                    <c:v>WH-4</c:v>
                  </c:pt>
                  <c:pt idx="3">
                    <c:v>WH-2</c:v>
                  </c:pt>
                  <c:pt idx="4">
                    <c:v>WH-5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78</c:v>
                </c:pt>
                <c:pt idx="2">
                  <c:v>76</c:v>
                </c:pt>
                <c:pt idx="3">
                  <c:v>73</c:v>
                </c:pt>
                <c:pt idx="4">
                  <c:v>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Shortage Events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Global Parts</c:v>
                  </c:pt>
                  <c:pt idx="1">
                    <c:v>DirectGoods</c:v>
                  </c:pt>
                  <c:pt idx="2">
                    <c:v>WarePlus</c:v>
                  </c:pt>
                  <c:pt idx="3">
                    <c:v>SupplyCo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17</c:v>
                </c:pt>
                <c:pt idx="2">
                  <c:v>15</c:v>
                </c:pt>
                <c:pt idx="3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TRACKING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stock imbalances across a multi-warehouse supply chain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420624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27358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3159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4864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420624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273584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43159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91840" y="4864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420624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273584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43159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760720" y="4864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420624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27358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43159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229600" y="4864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623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Somanath Tripathy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9618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Matplotlib · Seaborn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394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
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stock levels against reorder points to flag understocked and overstocked products, compare warehouse performance, and test whether supplier lead time or unit cost explain shortages.
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
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was checked for missing values and duplicate rows before analysis - both came back clean.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92240" y="1463040"/>
            <a:ext cx="2331720" cy="1554480"/>
          </a:xfrm>
          <a:prstGeom prst="roundRect">
            <a:avLst>
              <a:gd name="adj" fmla="val 3529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0" y="1645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9224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50" kern="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0" y="1463040"/>
            <a:ext cx="2331720" cy="1554480"/>
          </a:xfrm>
          <a:prstGeom prst="roundRect">
            <a:avLst>
              <a:gd name="adj" fmla="val 3529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0" y="1645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14400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50" kern="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3337560"/>
            <a:ext cx="2331720" cy="1554480"/>
          </a:xfrm>
          <a:prstGeom prst="roundRect">
            <a:avLst>
              <a:gd name="adj" fmla="val 3529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92240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50" kern="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0" y="3337560"/>
            <a:ext cx="2331720" cy="1554480"/>
          </a:xfrm>
          <a:prstGeom prst="roundRect">
            <a:avLst>
              <a:gd name="adj" fmla="val 3529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0" y="35204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44000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50" kern="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COMPLETENESS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Levels by Product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 in stock, summed across all 5 warehouses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5895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737360"/>
            <a:ext cx="3108960" cy="1737360"/>
          </a:xfrm>
          <a:prstGeom prst="roundRect">
            <a:avLst>
              <a:gd name="adj" fmla="val 3158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9202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
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— 19,585 units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41080" y="2651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
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— 15,155 units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412480" y="3657600"/>
            <a:ext cx="3108960" cy="2514600"/>
          </a:xfrm>
          <a:prstGeom prst="roundRect">
            <a:avLst>
              <a:gd name="adj" fmla="val 2182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8641080" y="384048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~4,430-unit gap separates the highest and lowest-stocked products - a moderate spread, not a dramatic one.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Reorder Status: The Real Imbalance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classified against its reorder point (500 total records)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51206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737360"/>
            <a:ext cx="5577840" cy="2011680"/>
          </a:xfrm>
          <a:prstGeom prst="roundRect">
            <a:avLst>
              <a:gd name="adj" fmla="val 2727"/>
            </a:avLst>
          </a:prstGeom>
          <a:solidFill>
            <a:srgbClr val="D64550"/>
          </a:solidFill>
          <a:ln/>
        </p:spPr>
      </p:sp>
      <p:sp>
        <p:nvSpPr>
          <p:cNvPr id="6" name="Text 3"/>
          <p:cNvSpPr/>
          <p:nvPr/>
        </p:nvSpPr>
        <p:spPr>
          <a:xfrm>
            <a:off x="617220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373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6172200" y="28803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overstocked -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5.6x more than the 66 running low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0" y="4023360"/>
            <a:ext cx="5577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Overstocking - not stockouts - is the dominant issue in this inventory. Nearly 3 out of 4 products carry excess stock.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 Performance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rate vs. overstock volume, by warehouse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RATE (%)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OVERSTOCKED PRODUCTS (COUNT)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126480" y="196596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events and average delivery lead time, by supplier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EVENTS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55778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600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LEAD TIME (DAYS)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0" y="2057400"/>
            <a:ext cx="5120640" cy="77724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9400" y="20574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SupplyCo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0" y="20574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 days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61320" y="20574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0" y="2971800"/>
            <a:ext cx="5120640" cy="77724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400" y="2971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DirectGoods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0" y="2971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 days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0" y="3886200"/>
            <a:ext cx="5120640" cy="77724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3886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Parts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0" y="38862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 days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00800" y="4800600"/>
            <a:ext cx="5120640" cy="77724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29400" y="4800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WarePlus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144000" y="48006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 days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561320" y="48006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5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Predicts Shortfalls?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two common suspects: supplier lead time and unit cost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0574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B75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88720" y="26060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-0.10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188720" y="3840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VS. SHORTFALL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4251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supplier lead times do not reliably produce bigger shortfalls.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78308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F7F9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0574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B75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0" y="26060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858000" y="3840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 VS. SHORTFALL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4251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Shortfalls are spread evenly across price points, cheap or expensive.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349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values sit near zero - close to no linear relationship. Shortfalls aren't explained by how long delivery takes or how much a product costs, which points toward reorder-point calibration or demand forecasting as the more likely root cause.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685800" cy="685800"/>
          </a:xfrm>
          <a:prstGeom prst="oval">
            <a:avLst/>
          </a:prstGeom>
          <a:solidFill>
            <a:srgbClr val="2C3A7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91640" y="15087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Overstocking is systemic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91640" y="187452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7 products is overstocked in all 5 warehouses - not a one-off, but a repeating pattern.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724912"/>
            <a:ext cx="685800" cy="685800"/>
          </a:xfrm>
          <a:prstGeom prst="oval">
            <a:avLst/>
          </a:prstGeom>
          <a:solidFill>
            <a:srgbClr val="2C3A7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249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67919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Understocking is concentrated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91640" y="304495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WH-2 and WH-1 carry the highest low-stock rates (15.8% and 15.6%) - a good starting point for review.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895344"/>
            <a:ext cx="685800" cy="685800"/>
          </a:xfrm>
          <a:prstGeom prst="oval">
            <a:avLst/>
          </a:prstGeom>
          <a:solidFill>
            <a:srgbClr val="2C3A7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89534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384962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factors don't explain it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91640" y="421538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lead time (r = -0.10) nor unit cost (r = 0.06) correlates meaningfully with shortfalls.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065776"/>
            <a:ext cx="685800" cy="685800"/>
          </a:xfrm>
          <a:prstGeom prst="oval">
            <a:avLst/>
          </a:prstGeom>
          <a:solidFill>
            <a:srgbClr val="D6455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6577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502005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53858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reorder-point thresholds and set overstock caps per warehouse, rather than pursuing supplier changes.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analysis, charts, and code available in the project notebook on GitHub.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Pandas · Matplotlib · Seaborn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1097280" cy="0"/>
          </a:xfrm>
          <a:prstGeom prst="line">
            <a:avLst/>
          </a:prstGeom>
          <a:noFill/>
          <a:ln w="19050">
            <a:solidFill>
              <a:srgbClr val="3E4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Somanath Tripathy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2303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2026-07-13T02:28:08Z</dcterms:created>
  <dcterms:modified xsi:type="dcterms:W3CDTF">2026-07-13T02:28:08Z</dcterms:modified>
</cp:coreProperties>
</file>